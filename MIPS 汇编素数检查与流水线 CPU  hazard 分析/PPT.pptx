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90959-F10A-E9AD-34EC-37DAEAF2208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DA81AE2-1011-69EF-86C1-3ED78CD26A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FCD1A7E-E351-9CCC-D007-32B4F7FCD670}"/>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19906970-EC76-9718-65B7-6782A704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21B745-D88D-9F9E-3C4B-4276CBAA8C61}"/>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4197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DAC70D-4976-F077-2D80-3113AC64EFB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DB29C4-C1EF-CB5C-08DA-78840ACA142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1BD9E8-46A0-1743-121E-5357D22A2F67}"/>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4A2E1C2C-E859-4B67-FCAF-8EF6631711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38CFD9-793C-BCD3-FFE3-254CE7DDC3D8}"/>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75636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FFE0F-1643-60D4-02A1-EA288E8DBD3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88672C1-4267-6D76-B5EB-6DBBAC05B1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427E1C3-397F-0702-5C19-64D6D191AF64}"/>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75912E20-A3B4-15C1-34B2-8188F7B445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D1F2D3-097D-CDA5-5B27-38AA2A4035ED}"/>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2985066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515F7-C530-D48B-64F4-12B6767945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43BCEC6-1D4A-5DAB-6F72-FC2D505514D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14D1BC3-5BAF-059F-0957-FDCEA19E1CB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AA716F0-93E6-09D0-71B0-10DE74AB592B}"/>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6" name="页脚占位符 5">
            <a:extLst>
              <a:ext uri="{FF2B5EF4-FFF2-40B4-BE49-F238E27FC236}">
                <a16:creationId xmlns:a16="http://schemas.microsoft.com/office/drawing/2014/main" id="{DBC66896-85B9-93F7-DFF3-5134391955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806BE02-6F78-2D8E-C70A-335A7ABBD9BF}"/>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920901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944F6-334F-870F-C68B-71F19D61E31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7D43D7-5103-2469-4DB9-9A166D3101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869DE4A-E43D-C661-35FD-D23AF1D7C06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BA15066-641E-1A4A-0BC0-E3741FFA6A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19FF76E-B450-A937-C94A-FBA2690AAEA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FABCBBF-95BF-26A0-928E-65A35AC142C7}"/>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8" name="页脚占位符 7">
            <a:extLst>
              <a:ext uri="{FF2B5EF4-FFF2-40B4-BE49-F238E27FC236}">
                <a16:creationId xmlns:a16="http://schemas.microsoft.com/office/drawing/2014/main" id="{4282691F-94D2-9370-9F08-FA98A85FD1B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C215D15-CF64-4C4F-49A7-0E41660713B3}"/>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1164259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BCF08-B0EC-1C45-54B0-779FB49511E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1A0672D-67A3-BBFB-D8F5-CF83AA9C9C2B}"/>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4" name="页脚占位符 3">
            <a:extLst>
              <a:ext uri="{FF2B5EF4-FFF2-40B4-BE49-F238E27FC236}">
                <a16:creationId xmlns:a16="http://schemas.microsoft.com/office/drawing/2014/main" id="{ECFBC58A-691A-8A4C-DA15-BD551D01552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FA4ADD8-5739-9CF4-F604-19353A0DD70E}"/>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603784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41E1AF4-9A16-19AA-FABC-D232BCA16A0F}"/>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3" name="页脚占位符 2">
            <a:extLst>
              <a:ext uri="{FF2B5EF4-FFF2-40B4-BE49-F238E27FC236}">
                <a16:creationId xmlns:a16="http://schemas.microsoft.com/office/drawing/2014/main" id="{4D253E9B-CDE5-6F7F-8DE4-4882261C6FF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3C2A732-3C18-E28D-B521-4F78393EB4B4}"/>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193578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192563-FD80-C043-B96D-753F4479F19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80366F6-590B-2FE9-3E0B-1A7CB6545E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E7DE9A4-E2F5-7216-C97C-1BF23A3B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E25158C-4D82-2104-DF21-F484644FCE79}"/>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6" name="页脚占位符 5">
            <a:extLst>
              <a:ext uri="{FF2B5EF4-FFF2-40B4-BE49-F238E27FC236}">
                <a16:creationId xmlns:a16="http://schemas.microsoft.com/office/drawing/2014/main" id="{91503E72-6704-E158-B0E7-5EA033B6B8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988639-9B41-FF96-ADB8-F4BDE5E5C6A6}"/>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134636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0E07B-54C2-C74A-8DDF-BBA42895A86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A5E4EAA-CDE1-6785-64D7-F3B366DF12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D5D16A0-A6C5-892A-9B5F-EE077F689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B63D26-28B6-43C6-A912-2162EEAA45E5}"/>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6" name="页脚占位符 5">
            <a:extLst>
              <a:ext uri="{FF2B5EF4-FFF2-40B4-BE49-F238E27FC236}">
                <a16:creationId xmlns:a16="http://schemas.microsoft.com/office/drawing/2014/main" id="{539C0088-F779-37BB-821B-1082C9E694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31478F-759D-881A-2BDD-3F88C49CBB60}"/>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2117975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65AE91-49DF-6A14-0221-9FC793B1AAA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B989568-B918-0CB0-5FBF-6285A075BDD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168E945-3A9B-8399-D0AD-93382732F346}"/>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9CD85228-FDB6-7BD3-DEF4-E8D0A4748E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F5D8E0-3486-7EA0-F91B-4B566E76C146}"/>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97401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22CE96D-AE0D-D9AD-59B9-7E95CE47E7F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4018346-AED9-AD82-5E0C-37A0718B6CB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F5AD209-7AAE-C463-C0DD-35E63CAF1A23}"/>
              </a:ext>
            </a:extLst>
          </p:cNvPr>
          <p:cNvSpPr>
            <a:spLocks noGrp="1"/>
          </p:cNvSpPr>
          <p:nvPr>
            <p:ph type="dt" sz="half" idx="10"/>
          </p:nvPr>
        </p:nvSpPr>
        <p:spPr/>
        <p:txBody>
          <a:body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D15E4701-0E20-9E60-BFA1-B93472370B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F57545-539B-66D2-19CF-1BD355B3BE07}"/>
              </a:ext>
            </a:extLst>
          </p:cNvPr>
          <p:cNvSpPr>
            <a:spLocks noGrp="1"/>
          </p:cNvSpPr>
          <p:nvPr>
            <p:ph type="sldNum" sz="quarter" idx="12"/>
          </p:nvPr>
        </p:nvSpPr>
        <p:spPr/>
        <p:txBody>
          <a:body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116023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602C472-DB81-7363-4558-01CFDCC1A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891870-F681-C4CA-79EA-8A5ED60D35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C7F0711-5428-55CE-BBCA-29F186C6F7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EB27D7-1DC5-430F-8A1F-5EF1607FDD7E}" type="datetimeFigureOut">
              <a:rPr lang="zh-CN" altLang="en-US" smtClean="0"/>
              <a:t>2025/4/29</a:t>
            </a:fld>
            <a:endParaRPr lang="zh-CN" altLang="en-US"/>
          </a:p>
        </p:txBody>
      </p:sp>
      <p:sp>
        <p:nvSpPr>
          <p:cNvPr id="5" name="页脚占位符 4">
            <a:extLst>
              <a:ext uri="{FF2B5EF4-FFF2-40B4-BE49-F238E27FC236}">
                <a16:creationId xmlns:a16="http://schemas.microsoft.com/office/drawing/2014/main" id="{2DB799FA-456D-E5F3-5811-5884F4D729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1E524106-7092-C3AE-E75D-563F9F0AF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0467A-7C83-40F3-8D05-92178DFBD994}" type="slidenum">
              <a:rPr lang="zh-CN" altLang="en-US" smtClean="0"/>
              <a:t>‹#›</a:t>
            </a:fld>
            <a:endParaRPr lang="zh-CN" altLang="en-US"/>
          </a:p>
        </p:txBody>
      </p:sp>
    </p:spTree>
    <p:extLst>
      <p:ext uri="{BB962C8B-B14F-4D97-AF65-F5344CB8AC3E}">
        <p14:creationId xmlns:p14="http://schemas.microsoft.com/office/powerpoint/2010/main" val="3532122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AD10069A-1195-F64A-1C2B-14EF94641185}"/>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altLang="zh-CN" sz="3400" dirty="0">
                <a:latin typeface="Calibri" panose="020F0502020204030204" pitchFamily="34" charset="0"/>
                <a:ea typeface="Calibri" panose="020F0502020204030204" pitchFamily="34" charset="0"/>
                <a:cs typeface="Calibri" panose="020F0502020204030204" pitchFamily="34" charset="0"/>
              </a:rPr>
              <a:t>3 aspects of computer architecture not covered in this module</a:t>
            </a:r>
          </a:p>
        </p:txBody>
      </p:sp>
      <p:sp>
        <p:nvSpPr>
          <p:cNvPr id="3" name="文本框 2">
            <a:extLst>
              <a:ext uri="{FF2B5EF4-FFF2-40B4-BE49-F238E27FC236}">
                <a16:creationId xmlns:a16="http://schemas.microsoft.com/office/drawing/2014/main" id="{D381A342-FB1F-099C-0AD9-4EECF99A06FE}"/>
              </a:ext>
            </a:extLst>
          </p:cNvPr>
          <p:cNvSpPr txBox="1"/>
          <p:nvPr/>
        </p:nvSpPr>
        <p:spPr>
          <a:xfrm>
            <a:off x="761802" y="2743200"/>
            <a:ext cx="4646905" cy="3613149"/>
          </a:xfrm>
          <a:prstGeom prst="rect">
            <a:avLst/>
          </a:prstGeom>
        </p:spPr>
        <p:txBody>
          <a:bodyPr vert="horz" lIns="91440" tIns="45720" rIns="91440" bIns="45720" rtlCol="0" anchor="ctr">
            <a:normAutofit/>
          </a:bodyPr>
          <a:lstStyle/>
          <a:p>
            <a:pPr>
              <a:lnSpc>
                <a:spcPct val="90000"/>
              </a:lnSpc>
              <a:spcAft>
                <a:spcPts val="600"/>
              </a:spcAft>
            </a:pPr>
            <a:r>
              <a:rPr lang="en-US" altLang="zh-CN" sz="2000" b="1" dirty="0"/>
              <a:t>1.</a:t>
            </a:r>
            <a:r>
              <a:rPr lang="en-US" altLang="zh-CN" sz="2000" dirty="0"/>
              <a:t> </a:t>
            </a:r>
            <a:r>
              <a:rPr lang="en-US" altLang="zh-CN" sz="2000" b="1" i="0" dirty="0">
                <a:effectLst/>
              </a:rPr>
              <a:t>Parallel Computing Architecture</a:t>
            </a:r>
            <a:endParaRPr lang="en-US" altLang="zh-CN" sz="2000" dirty="0"/>
          </a:p>
          <a:p>
            <a:pPr indent="-228600">
              <a:lnSpc>
                <a:spcPct val="90000"/>
              </a:lnSpc>
              <a:spcAft>
                <a:spcPts val="600"/>
              </a:spcAft>
              <a:buFont typeface="Arial" panose="020B0604020202020204" pitchFamily="34" charset="0"/>
              <a:buChar char="•"/>
            </a:pPr>
            <a:endParaRPr lang="en-US" altLang="zh-CN" sz="2000" dirty="0"/>
          </a:p>
          <a:p>
            <a:pPr>
              <a:lnSpc>
                <a:spcPct val="90000"/>
              </a:lnSpc>
              <a:spcAft>
                <a:spcPts val="600"/>
              </a:spcAft>
            </a:pPr>
            <a:r>
              <a:rPr lang="en-US" altLang="zh-CN" sz="2000" b="1" dirty="0"/>
              <a:t>2.</a:t>
            </a:r>
            <a:r>
              <a:rPr lang="en-US" altLang="zh-CN" sz="2000" dirty="0"/>
              <a:t> </a:t>
            </a:r>
            <a:r>
              <a:rPr lang="en-US" altLang="zh-CN" sz="2000" b="1" dirty="0"/>
              <a:t>Cache</a:t>
            </a:r>
          </a:p>
          <a:p>
            <a:pPr indent="-228600">
              <a:lnSpc>
                <a:spcPct val="90000"/>
              </a:lnSpc>
              <a:spcAft>
                <a:spcPts val="600"/>
              </a:spcAft>
              <a:buFont typeface="Arial" panose="020B0604020202020204" pitchFamily="34" charset="0"/>
              <a:buChar char="•"/>
            </a:pPr>
            <a:endParaRPr lang="en-US" altLang="zh-CN" sz="2000" dirty="0"/>
          </a:p>
          <a:p>
            <a:pPr>
              <a:lnSpc>
                <a:spcPct val="90000"/>
              </a:lnSpc>
              <a:spcAft>
                <a:spcPts val="600"/>
              </a:spcAft>
            </a:pPr>
            <a:r>
              <a:rPr lang="en-US" altLang="zh-CN" sz="2000" b="1" dirty="0"/>
              <a:t>3. </a:t>
            </a:r>
            <a:r>
              <a:rPr lang="en-US" altLang="zh-CN" sz="2000" b="1" i="0" dirty="0">
                <a:solidFill>
                  <a:srgbClr val="000000"/>
                </a:solidFill>
                <a:effectLst/>
                <a:latin typeface="Inter"/>
              </a:rPr>
              <a:t>Multi - Core Processor Architecture</a:t>
            </a:r>
          </a:p>
        </p:txBody>
      </p:sp>
      <p:pic>
        <p:nvPicPr>
          <p:cNvPr id="5" name="Picture 4">
            <a:extLst>
              <a:ext uri="{FF2B5EF4-FFF2-40B4-BE49-F238E27FC236}">
                <a16:creationId xmlns:a16="http://schemas.microsoft.com/office/drawing/2014/main" id="{6BA381CD-A709-BF16-7883-F732B5897B1E}"/>
              </a:ext>
            </a:extLst>
          </p:cNvPr>
          <p:cNvPicPr>
            <a:picLocks noChangeAspect="1"/>
          </p:cNvPicPr>
          <p:nvPr/>
        </p:nvPicPr>
        <p:blipFill>
          <a:blip r:embed="rId2"/>
          <a:srcRect l="8407" r="41537"/>
          <a:stretch/>
        </p:blipFill>
        <p:spPr>
          <a:xfrm>
            <a:off x="6096000" y="1"/>
            <a:ext cx="6102825" cy="6858000"/>
          </a:xfrm>
          <a:prstGeom prst="rect">
            <a:avLst/>
          </a:prstGeom>
        </p:spPr>
      </p:pic>
      <p:sp>
        <p:nvSpPr>
          <p:cNvPr id="4" name="文本框 3">
            <a:extLst>
              <a:ext uri="{FF2B5EF4-FFF2-40B4-BE49-F238E27FC236}">
                <a16:creationId xmlns:a16="http://schemas.microsoft.com/office/drawing/2014/main" id="{D03FB97F-0C11-A63A-2948-2FCA41909F36}"/>
              </a:ext>
            </a:extLst>
          </p:cNvPr>
          <p:cNvSpPr txBox="1"/>
          <p:nvPr/>
        </p:nvSpPr>
        <p:spPr>
          <a:xfrm>
            <a:off x="3227696" y="1974716"/>
            <a:ext cx="2743200" cy="369332"/>
          </a:xfrm>
          <a:prstGeom prst="rect">
            <a:avLst/>
          </a:prstGeom>
          <a:noFill/>
        </p:spPr>
        <p:txBody>
          <a:bodyPr wrap="square" rtlCol="0">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2025/4/30 Yushan Wang</a:t>
            </a:r>
            <a:endParaRPr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9288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01FE2A5E-1EDE-0F5B-3F62-ED34B05A6CB2}"/>
              </a:ext>
            </a:extLst>
          </p:cNvPr>
          <p:cNvSpPr>
            <a:spLocks noGrp="1"/>
          </p:cNvSpPr>
          <p:nvPr>
            <p:ph type="title"/>
          </p:nvPr>
        </p:nvSpPr>
        <p:spPr>
          <a:xfrm>
            <a:off x="991099" y="498514"/>
            <a:ext cx="10168128" cy="1179576"/>
          </a:xfrm>
        </p:spPr>
        <p:txBody>
          <a:bodyPr vert="horz" lIns="91440" tIns="45720" rIns="91440" bIns="45720" rtlCol="0" anchor="ctr">
            <a:normAutofit/>
          </a:bodyPr>
          <a:lstStyle/>
          <a:p>
            <a:r>
              <a:rPr lang="en-US" altLang="zh-CN" sz="370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Parallel Computing Architecture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F296B03D-456D-6427-2160-7BF3F1BA0F50}"/>
              </a:ext>
            </a:extLst>
          </p:cNvPr>
          <p:cNvSpPr>
            <a:spLocks noGrp="1"/>
          </p:cNvSpPr>
          <p:nvPr>
            <p:ph type="body" orient="vert" idx="1"/>
          </p:nvPr>
        </p:nvSpPr>
        <p:spPr>
          <a:xfrm>
            <a:off x="866632" y="2117801"/>
            <a:ext cx="10417063" cy="4242056"/>
          </a:xfrm>
        </p:spPr>
        <p:txBody>
          <a:bodyPr vert="horz" lIns="91440" tIns="45720" rIns="91440" bIns="45720" rtlCol="0">
            <a:noAutofit/>
          </a:bodyPr>
          <a:lstStyle/>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What</a:t>
            </a:r>
            <a:r>
              <a:rPr lang="zh-CN" altLang="en-US" sz="1400" dirty="0">
                <a:latin typeface="Calibri" panose="020F0502020204030204" pitchFamily="34" charset="0"/>
                <a:cs typeface="Calibri" panose="020F0502020204030204" pitchFamily="34" charset="0"/>
              </a:rPr>
              <a:t>：</a:t>
            </a:r>
            <a:endParaRPr lang="en-US" altLang="zh-CN" sz="1400" dirty="0">
              <a:latin typeface="Calibri" panose="020F0502020204030204" pitchFamily="34" charset="0"/>
              <a:ea typeface="Calibri" panose="020F0502020204030204" pitchFamily="34" charset="0"/>
              <a:cs typeface="Calibri" panose="020F0502020204030204" pitchFamily="34" charset="0"/>
            </a:endParaRP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A parallel computing architecture refers to a computer system design that is intended to execute multiple computing tasks simultaneously. Parallel computing architectures can significantly reduce the time required to solve complex problems.</a:t>
            </a:r>
          </a:p>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Where</a:t>
            </a:r>
            <a:r>
              <a:rPr lang="zh-CN" altLang="en-US" sz="1400" dirty="0">
                <a:latin typeface="Calibri" panose="020F0502020204030204" pitchFamily="34" charset="0"/>
                <a:cs typeface="Calibri" panose="020F0502020204030204" pitchFamily="34" charset="0"/>
              </a:rPr>
              <a:t>：</a:t>
            </a:r>
            <a:endParaRPr lang="en-US" altLang="zh-CN" sz="1400" dirty="0">
              <a:latin typeface="Calibri" panose="020F0502020204030204" pitchFamily="34" charset="0"/>
              <a:ea typeface="Calibri" panose="020F0502020204030204" pitchFamily="34" charset="0"/>
              <a:cs typeface="Calibri" panose="020F0502020204030204" pitchFamily="34" charset="0"/>
            </a:endParaRP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In the overall diagram of computer architecture, the parallel computing architecture is located in the continuum ranging from a single processor to a multi-processor system, and then to distributed and parallel computing systems.</a:t>
            </a:r>
          </a:p>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Relationship</a:t>
            </a:r>
            <a:r>
              <a:rPr lang="zh-CN" altLang="en-US" sz="1400" dirty="0">
                <a:latin typeface="Calibri" panose="020F0502020204030204" pitchFamily="34" charset="0"/>
                <a:cs typeface="Calibri" panose="020F0502020204030204" pitchFamily="34" charset="0"/>
              </a:rPr>
              <a:t>：</a:t>
            </a:r>
            <a:endParaRPr lang="en-US" altLang="zh-CN" sz="1400" dirty="0">
              <a:latin typeface="Calibri" panose="020F0502020204030204" pitchFamily="34" charset="0"/>
              <a:ea typeface="Calibri" panose="020F0502020204030204" pitchFamily="34" charset="0"/>
              <a:cs typeface="Calibri" panose="020F0502020204030204" pitchFamily="34" charset="0"/>
            </a:endParaRP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In this module, the fundamental knowledge of computer architecture was learned</a:t>
            </a:r>
            <a:r>
              <a:rPr lang="en-US" altLang="zh-CN" sz="1400" u="sng" dirty="0">
                <a:latin typeface="Calibri" panose="020F0502020204030204" pitchFamily="34" charset="0"/>
                <a:ea typeface="Calibri" panose="020F0502020204030204" pitchFamily="34" charset="0"/>
                <a:cs typeface="Calibri" panose="020F0502020204030204" pitchFamily="34" charset="0"/>
              </a:rPr>
              <a:t>, </a:t>
            </a:r>
            <a:r>
              <a:rPr lang="en-US" altLang="zh-CN" sz="1400" b="1" u="sng" dirty="0">
                <a:latin typeface="Calibri" panose="020F0502020204030204" pitchFamily="34" charset="0"/>
                <a:ea typeface="Calibri" panose="020F0502020204030204" pitchFamily="34" charset="0"/>
                <a:cs typeface="Calibri" panose="020F0502020204030204" pitchFamily="34" charset="0"/>
              </a:rPr>
              <a:t>including Instruction Set Architecture (ISA), CPU design, and microarchitecture</a:t>
            </a:r>
            <a:r>
              <a:rPr lang="en-US" altLang="zh-CN" sz="1400" u="sng" dirty="0">
                <a:latin typeface="Calibri" panose="020F0502020204030204" pitchFamily="34" charset="0"/>
                <a:ea typeface="Calibri" panose="020F0502020204030204" pitchFamily="34" charset="0"/>
                <a:cs typeface="Calibri" panose="020F0502020204030204" pitchFamily="34" charset="0"/>
              </a:rPr>
              <a:t>. </a:t>
            </a:r>
            <a:r>
              <a:rPr lang="en-US" altLang="zh-CN" sz="1400" dirty="0">
                <a:latin typeface="Calibri" panose="020F0502020204030204" pitchFamily="34" charset="0"/>
                <a:ea typeface="Calibri" panose="020F0502020204030204" pitchFamily="34" charset="0"/>
                <a:cs typeface="Calibri" panose="020F0502020204030204" pitchFamily="34" charset="0"/>
              </a:rPr>
              <a:t>These knowledge provide a foundation for understanding parallel computing architectures. For example:</a:t>
            </a:r>
          </a:p>
          <a:p>
            <a:pPr marL="457200" lvl="1"/>
            <a:r>
              <a:rPr lang="en-US" altLang="zh-CN" sz="1400" dirty="0">
                <a:latin typeface="Calibri" panose="020F0502020204030204" pitchFamily="34" charset="0"/>
                <a:ea typeface="Calibri" panose="020F0502020204030204" pitchFamily="34" charset="0"/>
                <a:cs typeface="Calibri" panose="020F0502020204030204" pitchFamily="34" charset="0"/>
              </a:rPr>
              <a:t>Instruction Set Architecture (ISA): Parallel computing may require an extended ISA to support multi-threading operations, which is related to the MIPS ISA and CPU design learned in this module.</a:t>
            </a:r>
          </a:p>
          <a:p>
            <a:pPr marL="457200" lvl="1"/>
            <a:r>
              <a:rPr lang="en-US" altLang="zh-CN" sz="1400" dirty="0">
                <a:latin typeface="Calibri" panose="020F0502020204030204" pitchFamily="34" charset="0"/>
                <a:ea typeface="Calibri" panose="020F0502020204030204" pitchFamily="34" charset="0"/>
                <a:cs typeface="Calibri" panose="020F0502020204030204" pitchFamily="34" charset="0"/>
              </a:rPr>
              <a:t>CPU design: Parallel computing architectures may involve the design of multi-core CPUs, which requires understanding how to integrate multiple processing units on a single chip and how to design efficient memory and data paths to support parallel operations.</a:t>
            </a:r>
          </a:p>
          <a:p>
            <a:pPr marL="457200" lvl="1"/>
            <a:r>
              <a:rPr lang="en-US" altLang="zh-CN" sz="1400" dirty="0">
                <a:latin typeface="Calibri" panose="020F0502020204030204" pitchFamily="34" charset="0"/>
                <a:ea typeface="Calibri" panose="020F0502020204030204" pitchFamily="34" charset="0"/>
                <a:cs typeface="Calibri" panose="020F0502020204030204" pitchFamily="34" charset="0"/>
              </a:rPr>
              <a:t>Microarchitecture: The implementation of parallel computing architectures usually involves microarchitecture optimization.</a:t>
            </a:r>
            <a:endParaRPr lang="zh-CN" alt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1019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7CC10-4297-919B-0346-EB88C6DA08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9C63EDAA-C384-0CF1-74B3-3313DD91A327}"/>
              </a:ext>
            </a:extLst>
          </p:cNvPr>
          <p:cNvSpPr>
            <a:spLocks noGrp="1"/>
          </p:cNvSpPr>
          <p:nvPr>
            <p:ph type="title"/>
          </p:nvPr>
        </p:nvSpPr>
        <p:spPr>
          <a:xfrm>
            <a:off x="411480" y="991443"/>
            <a:ext cx="4443154" cy="1087819"/>
          </a:xfrm>
        </p:spPr>
        <p:txBody>
          <a:bodyPr vert="horz" lIns="91440" tIns="45720" rIns="91440" bIns="45720" rtlCol="0" anchor="b">
            <a:normAutofit/>
          </a:bodyPr>
          <a:lstStyle/>
          <a:p>
            <a:r>
              <a:rPr lang="en-US" altLang="zh-CN" sz="340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Cache</a:t>
            </a:r>
            <a:br>
              <a:rPr lang="en-US" altLang="zh-CN" sz="3400" kern="1200" dirty="0">
                <a:solidFill>
                  <a:schemeClr val="tx1"/>
                </a:solidFill>
                <a:latin typeface="+mj-lt"/>
                <a:ea typeface="+mj-ea"/>
                <a:cs typeface="+mj-cs"/>
              </a:rPr>
            </a:br>
            <a:endParaRPr lang="en-US" altLang="zh-CN" sz="34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F87A0D49-91F6-4C17-4548-D512DFE5C370}"/>
              </a:ext>
            </a:extLst>
          </p:cNvPr>
          <p:cNvSpPr>
            <a:spLocks noGrp="1"/>
          </p:cNvSpPr>
          <p:nvPr>
            <p:ph type="body" orient="vert" idx="1"/>
          </p:nvPr>
        </p:nvSpPr>
        <p:spPr>
          <a:xfrm>
            <a:off x="305170" y="2303829"/>
            <a:ext cx="4815055" cy="4235632"/>
          </a:xfrm>
        </p:spPr>
        <p:txBody>
          <a:bodyPr vert="horz" lIns="91440" tIns="45720" rIns="91440" bIns="45720" rtlCol="0">
            <a:noAutofit/>
          </a:bodyPr>
          <a:lstStyle/>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What</a:t>
            </a:r>
            <a:r>
              <a:rPr lang="en-US" altLang="zh-CN" sz="14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Cache is a kind of high-speed storage component</a:t>
            </a: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U</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sed to store data and instructions that the CPU is likely to frequently access in the near future. </a:t>
            </a: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A</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ccelerate data access speed </a:t>
            </a: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R</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educe the time </a:t>
            </a:r>
          </a:p>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Where</a:t>
            </a:r>
            <a:r>
              <a:rPr lang="en-US" altLang="zh-CN" sz="14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It is located in the storage hierarchy structure between the CPU and the main memory.</a:t>
            </a:r>
          </a:p>
          <a:p>
            <a:pPr marL="0"/>
            <a:r>
              <a:rPr lang="en-US" altLang="zh-CN" sz="1400" b="1" dirty="0">
                <a:latin typeface="Calibri" panose="020F0502020204030204" pitchFamily="34" charset="0"/>
                <a:ea typeface="Calibri" panose="020F0502020204030204" pitchFamily="34" charset="0"/>
                <a:cs typeface="Calibri" panose="020F0502020204030204" pitchFamily="34" charset="0"/>
              </a:rPr>
              <a:t>Relationship</a:t>
            </a:r>
            <a:r>
              <a:rPr lang="en-US" altLang="zh-CN" sz="14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The course has covered the basic concepts of storage, such </a:t>
            </a:r>
            <a:r>
              <a:rPr lang="en-US" altLang="zh-CN" sz="1400" i="0" dirty="0">
                <a:effectLst/>
                <a:latin typeface="Calibri" panose="020F0502020204030204" pitchFamily="34" charset="0"/>
                <a:ea typeface="Calibri" panose="020F0502020204030204" pitchFamily="34" charset="0"/>
                <a:cs typeface="Calibri" panose="020F0502020204030204" pitchFamily="34" charset="0"/>
              </a:rPr>
              <a:t>as</a:t>
            </a:r>
            <a:r>
              <a:rPr lang="en-US" altLang="zh-CN" sz="1400" b="1" i="0" u="sng" dirty="0">
                <a:effectLst/>
                <a:latin typeface="Calibri" panose="020F0502020204030204" pitchFamily="34" charset="0"/>
                <a:ea typeface="Calibri" panose="020F0502020204030204" pitchFamily="34" charset="0"/>
                <a:cs typeface="Calibri" panose="020F0502020204030204" pitchFamily="34" charset="0"/>
              </a:rPr>
              <a:t> memory addresses and data storage</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 </a:t>
            </a:r>
            <a:endParaRPr lang="en-US" altLang="zh-CN" sz="1400" dirty="0">
              <a:latin typeface="Calibri" panose="020F0502020204030204" pitchFamily="34" charset="0"/>
              <a:ea typeface="Calibri" panose="020F0502020204030204" pitchFamily="34" charset="0"/>
              <a:cs typeface="Calibri" panose="020F0502020204030204" pitchFamily="34" charset="0"/>
            </a:endParaRP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A</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n extension of memory access optimization </a:t>
            </a:r>
          </a:p>
          <a:p>
            <a:pPr marL="0"/>
            <a:r>
              <a:rPr lang="en-US" altLang="zh-CN" sz="1400" dirty="0">
                <a:latin typeface="Calibri" panose="020F0502020204030204" pitchFamily="34" charset="0"/>
                <a:ea typeface="Calibri" panose="020F0502020204030204" pitchFamily="34" charset="0"/>
                <a:cs typeface="Calibri" panose="020F0502020204030204" pitchFamily="34" charset="0"/>
              </a:rPr>
              <a:t>C</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losely related to </a:t>
            </a:r>
            <a:r>
              <a:rPr lang="en-US" altLang="zh-CN" sz="1400" b="1" i="0" u="sng" dirty="0">
                <a:effectLst/>
                <a:latin typeface="Calibri" panose="020F0502020204030204" pitchFamily="34" charset="0"/>
                <a:ea typeface="Calibri" panose="020F0502020204030204" pitchFamily="34" charset="0"/>
                <a:cs typeface="Calibri" panose="020F0502020204030204" pitchFamily="34" charset="0"/>
              </a:rPr>
              <a:t>the data reading and writing operations </a:t>
            </a:r>
            <a:r>
              <a:rPr lang="en-US" altLang="zh-CN" sz="1400" b="0" i="0" dirty="0">
                <a:effectLst/>
                <a:latin typeface="Calibri" panose="020F0502020204030204" pitchFamily="34" charset="0"/>
                <a:ea typeface="Calibri" panose="020F0502020204030204" pitchFamily="34" charset="0"/>
                <a:cs typeface="Calibri" panose="020F0502020204030204" pitchFamily="34" charset="0"/>
              </a:rPr>
              <a:t>in the MIPS programming we have studied</a:t>
            </a:r>
            <a:r>
              <a:rPr lang="en-US" altLang="zh-CN" sz="1400" dirty="0">
                <a:latin typeface="Calibri" panose="020F0502020204030204" pitchFamily="34" charset="0"/>
                <a:ea typeface="Calibri" panose="020F0502020204030204" pitchFamily="34" charset="0"/>
                <a:cs typeface="Calibri" panose="020F0502020204030204" pitchFamily="34" charset="0"/>
              </a:rPr>
              <a:t>.</a:t>
            </a:r>
            <a:endParaRPr lang="zh-CN" altLang="en-US" sz="1400" b="0" i="0" dirty="0">
              <a:effectLst/>
              <a:latin typeface="Calibri" panose="020F0502020204030204" pitchFamily="34" charset="0"/>
              <a:cs typeface="Calibri" panose="020F0502020204030204" pitchFamily="34" charset="0"/>
            </a:endParaRPr>
          </a:p>
        </p:txBody>
      </p:sp>
      <p:pic>
        <p:nvPicPr>
          <p:cNvPr id="5" name="图片 4">
            <a:extLst>
              <a:ext uri="{FF2B5EF4-FFF2-40B4-BE49-F238E27FC236}">
                <a16:creationId xmlns:a16="http://schemas.microsoft.com/office/drawing/2014/main" id="{03A5D7D6-FD9C-5DBA-2801-B60EBDFD8C37}"/>
              </a:ext>
            </a:extLst>
          </p:cNvPr>
          <p:cNvPicPr>
            <a:picLocks noChangeAspect="1"/>
          </p:cNvPicPr>
          <p:nvPr/>
        </p:nvPicPr>
        <p:blipFill>
          <a:blip r:embed="rId2"/>
          <a:stretch>
            <a:fillRect/>
          </a:stretch>
        </p:blipFill>
        <p:spPr>
          <a:xfrm>
            <a:off x="5385816" y="1759015"/>
            <a:ext cx="6440424" cy="3284615"/>
          </a:xfrm>
          <a:prstGeom prst="rect">
            <a:avLst/>
          </a:prstGeom>
        </p:spPr>
      </p:pic>
    </p:spTree>
    <p:extLst>
      <p:ext uri="{BB962C8B-B14F-4D97-AF65-F5344CB8AC3E}">
        <p14:creationId xmlns:p14="http://schemas.microsoft.com/office/powerpoint/2010/main" val="244624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CCA1AE-C553-FE32-227D-EEDA5471EB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9E3D1192-51D5-732B-777F-51E11FB3D68A}"/>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altLang="zh-CN" sz="400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Multi - Core Processor Architecture</a:t>
            </a:r>
            <a:endParaRPr lang="en-US" altLang="zh-CN" sz="40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EEEE3A08-C851-3F2F-DFFB-9BD2D8481C9C}"/>
              </a:ext>
            </a:extLst>
          </p:cNvPr>
          <p:cNvSpPr>
            <a:spLocks noGrp="1"/>
          </p:cNvSpPr>
          <p:nvPr>
            <p:ph type="body" orient="vert" idx="1"/>
          </p:nvPr>
        </p:nvSpPr>
        <p:spPr>
          <a:xfrm>
            <a:off x="1115568" y="2481943"/>
            <a:ext cx="10168128" cy="3695020"/>
          </a:xfrm>
        </p:spPr>
        <p:txBody>
          <a:bodyPr vert="horz" lIns="91440" tIns="45720" rIns="91440" bIns="45720" rtlCol="0">
            <a:normAutofit fontScale="92500" lnSpcReduction="20000"/>
          </a:bodyPr>
          <a:lstStyle/>
          <a:p>
            <a:pPr marL="0"/>
            <a:r>
              <a:rPr lang="en-US" altLang="zh-CN" sz="2000" b="1" dirty="0">
                <a:latin typeface="Calibri" panose="020F0502020204030204" pitchFamily="34" charset="0"/>
                <a:ea typeface="Calibri" panose="020F0502020204030204" pitchFamily="34" charset="0"/>
                <a:cs typeface="Calibri" panose="020F0502020204030204" pitchFamily="34" charset="0"/>
              </a:rPr>
              <a:t>What</a:t>
            </a:r>
            <a:r>
              <a:rPr lang="en-US" altLang="zh-CN" sz="20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A multi - core processor integrates multiple processing cores on a single chip. Each core can execute instructions independently, and multiple cores can process different tasks or threads in parallel, thus enhancing the overall processing capacity and performance of the system.</a:t>
            </a:r>
          </a:p>
          <a:p>
            <a:pPr marL="0"/>
            <a:r>
              <a:rPr lang="en-US" altLang="zh-CN" sz="2000" b="1" dirty="0">
                <a:latin typeface="Calibri" panose="020F0502020204030204" pitchFamily="34" charset="0"/>
                <a:ea typeface="Calibri" panose="020F0502020204030204" pitchFamily="34" charset="0"/>
                <a:cs typeface="Calibri" panose="020F0502020204030204" pitchFamily="34" charset="0"/>
              </a:rPr>
              <a:t>Where</a:t>
            </a:r>
            <a:r>
              <a:rPr lang="en-US" altLang="zh-CN" sz="20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It lies at the core level of a computer's processor, influencing the system's computing power and task - handling methods. </a:t>
            </a:r>
          </a:p>
          <a:p>
            <a:pPr marL="0"/>
            <a:r>
              <a:rPr lang="en-US" altLang="zh-CN" sz="2000" b="1" dirty="0">
                <a:latin typeface="Calibri" panose="020F0502020204030204" pitchFamily="34" charset="0"/>
                <a:ea typeface="Calibri" panose="020F0502020204030204" pitchFamily="34" charset="0"/>
                <a:cs typeface="Calibri" panose="020F0502020204030204" pitchFamily="34" charset="0"/>
              </a:rPr>
              <a:t>Relationship</a:t>
            </a:r>
            <a:r>
              <a:rPr lang="en-US" altLang="zh-CN" sz="2000" dirty="0">
                <a:latin typeface="Calibri" panose="020F0502020204030204" pitchFamily="34" charset="0"/>
                <a:ea typeface="Calibri" panose="020F0502020204030204" pitchFamily="34" charset="0"/>
                <a:cs typeface="Calibri" panose="020F0502020204030204" pitchFamily="34" charset="0"/>
              </a:rPr>
              <a:t>:</a:t>
            </a:r>
          </a:p>
          <a:p>
            <a:pPr marL="0"/>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Based on the knowledge of </a:t>
            </a:r>
            <a:r>
              <a:rPr lang="en-US" altLang="zh-CN" sz="2000" b="1" i="0" u="sng" dirty="0">
                <a:effectLst/>
                <a:latin typeface="Calibri" panose="020F0502020204030204" pitchFamily="34" charset="0"/>
                <a:ea typeface="Calibri" panose="020F0502020204030204" pitchFamily="34" charset="0"/>
                <a:cs typeface="Calibri" panose="020F0502020204030204" pitchFamily="34" charset="0"/>
              </a:rPr>
              <a:t>single - core CPU design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learned in the course, a multi - core processor is an extension and upgrade of it. It involves issues such as coordination, communication, and task allocation among multiple cores, and is closely related to the learned CPU design, instruction execution flow, etc. It increases the complexity of the system architecture and the potential for performance improvement.</a:t>
            </a:r>
            <a:endParaRPr lang="zh-CN" altLang="en-US" sz="2000" b="0" i="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0325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F1D0B6-97B1-44F2-8FCC-F8A4326FAC04}"/>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F81828F2-0086-C349-50FC-7B220CEF636B}"/>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altLang="zh-CN" sz="370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Parallel Computing Architecture</a:t>
            </a:r>
            <a:br>
              <a:rPr lang="en-US" altLang="zh-CN" sz="3700" i="0"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lang="en-US" altLang="zh-CN" sz="3700" kern="1200" dirty="0">
                <a:solidFill>
                  <a:schemeClr val="tx1"/>
                </a:solidFill>
                <a:latin typeface="Calibri" panose="020F0502020204030204" pitchFamily="34" charset="0"/>
                <a:ea typeface="Calibri" panose="020F0502020204030204" pitchFamily="34" charset="0"/>
                <a:cs typeface="Calibri" panose="020F0502020204030204" pitchFamily="34" charset="0"/>
              </a:rPr>
              <a:t>sub-topics:</a:t>
            </a:r>
          </a:p>
        </p:txBody>
      </p:sp>
      <p:sp>
        <p:nvSpPr>
          <p:cNvPr id="25" name="Rectangle 2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B319DE1F-6817-C7D9-8C0D-C4AF35C1F768}"/>
              </a:ext>
            </a:extLst>
          </p:cNvPr>
          <p:cNvSpPr>
            <a:spLocks noGrp="1"/>
          </p:cNvSpPr>
          <p:nvPr>
            <p:ph type="body" orient="vert" idx="1"/>
          </p:nvPr>
        </p:nvSpPr>
        <p:spPr>
          <a:xfrm>
            <a:off x="1115568" y="2276856"/>
            <a:ext cx="10682922" cy="4485239"/>
          </a:xfrm>
        </p:spPr>
        <p:txBody>
          <a:bodyPr vert="horz" lIns="91440" tIns="45720" rIns="91440" bIns="45720" rtlCol="0">
            <a:normAutofit fontScale="92500" lnSpcReduction="10000"/>
          </a:bodyPr>
          <a:lstStyle/>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Parallel Computing Model: </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It is an abstract framework for parallel computing systems, defining task decomposition, distribution, and processor collaboration methods. </a:t>
            </a:r>
          </a:p>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Parallel Programming Model: </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It is an abstract model that </a:t>
            </a:r>
            <a:r>
              <a:rPr lang="en-US" altLang="zh-CN" sz="1600" b="1" i="0" u="sng" dirty="0">
                <a:effectLst/>
                <a:latin typeface="Calibri" panose="020F0502020204030204" pitchFamily="34" charset="0"/>
                <a:ea typeface="Calibri" panose="020F0502020204030204" pitchFamily="34" charset="0"/>
                <a:cs typeface="Calibri" panose="020F0502020204030204" pitchFamily="34" charset="0"/>
              </a:rPr>
              <a:t>assists programmers </a:t>
            </a: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in developing parallel programs.</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OpenMP (based on shared memory, implemented through compiler directives for multi-threaded parallelism)</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MPI (used for distributed memory systems, through message-passing programming)</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CUDA (focusing on GPU parallel computing). </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It is based on the parallel computing model, adapted to different hardware architectures, and can leverage the performance advantages of the architectures</a:t>
            </a:r>
            <a:r>
              <a:rPr lang="en-US" altLang="zh-CN" sz="1600" b="1" i="0" dirty="0">
                <a:effectLst/>
                <a:latin typeface="Calibri" panose="020F0502020204030204" pitchFamily="34" charset="0"/>
                <a:ea typeface="Calibri" panose="020F0502020204030204" pitchFamily="34" charset="0"/>
                <a:cs typeface="Calibri" panose="020F0502020204030204" pitchFamily="34" charset="0"/>
              </a:rPr>
              <a:t>.</a:t>
            </a:r>
          </a:p>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Parallel Storage Architecture: </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Focuses on the </a:t>
            </a:r>
            <a:r>
              <a:rPr lang="en-US" altLang="zh-CN" sz="1600" b="1" i="0" u="sng" dirty="0">
                <a:effectLst/>
                <a:latin typeface="Calibri" panose="020F0502020204030204" pitchFamily="34" charset="0"/>
                <a:ea typeface="Calibri" panose="020F0502020204030204" pitchFamily="34" charset="0"/>
                <a:cs typeface="Calibri" panose="020F0502020204030204" pitchFamily="34" charset="0"/>
              </a:rPr>
              <a:t>storage</a:t>
            </a:r>
            <a:r>
              <a:rPr lang="en-US" altLang="zh-CN" sz="1600" i="0" u="sng" dirty="0">
                <a:effectLst/>
                <a:latin typeface="Calibri" panose="020F0502020204030204" pitchFamily="34" charset="0"/>
                <a:ea typeface="Calibri" panose="020F0502020204030204" pitchFamily="34" charset="0"/>
                <a:cs typeface="Calibri" panose="020F0502020204030204" pitchFamily="34" charset="0"/>
              </a:rPr>
              <a:t> and </a:t>
            </a:r>
            <a:r>
              <a:rPr lang="en-US" altLang="zh-CN" sz="1600" b="1" i="0" u="sng" dirty="0">
                <a:effectLst/>
                <a:latin typeface="Calibri" panose="020F0502020204030204" pitchFamily="34" charset="0"/>
                <a:ea typeface="Calibri" panose="020F0502020204030204" pitchFamily="34" charset="0"/>
                <a:cs typeface="Calibri" panose="020F0502020204030204" pitchFamily="34" charset="0"/>
              </a:rPr>
              <a:t>access of data </a:t>
            </a: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in parallel computing environments. </a:t>
            </a:r>
          </a:p>
          <a:p>
            <a:pPr lvl="1">
              <a:spcBef>
                <a:spcPts val="600"/>
              </a:spcBef>
            </a:pPr>
            <a:r>
              <a:rPr lang="en-US" altLang="zh-CN" sz="1600" dirty="0">
                <a:latin typeface="Calibri" panose="020F0502020204030204" pitchFamily="34" charset="0"/>
                <a:ea typeface="Calibri" panose="020F0502020204030204" pitchFamily="34" charset="0"/>
                <a:cs typeface="Calibri" panose="020F0502020204030204" pitchFamily="34" charset="0"/>
              </a:rPr>
              <a:t>D</a:t>
            </a: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istributed file systems (such as </a:t>
            </a:r>
            <a:r>
              <a:rPr lang="en-US" altLang="zh-CN" sz="1600" i="0" dirty="0" err="1">
                <a:effectLst/>
                <a:latin typeface="Calibri" panose="020F0502020204030204" pitchFamily="34" charset="0"/>
                <a:ea typeface="Calibri" panose="020F0502020204030204" pitchFamily="34" charset="0"/>
                <a:cs typeface="Calibri" panose="020F0502020204030204" pitchFamily="34" charset="0"/>
              </a:rPr>
              <a:t>Ceph</a:t>
            </a:r>
            <a:r>
              <a:rPr lang="en-US" altLang="zh-CN" sz="1600" i="0" dirty="0">
                <a:effectLst/>
                <a:latin typeface="Calibri" panose="020F0502020204030204" pitchFamily="34" charset="0"/>
                <a:ea typeface="Calibri" panose="020F0502020204030204" pitchFamily="34" charset="0"/>
                <a:cs typeface="Calibri" panose="020F0502020204030204" pitchFamily="34" charset="0"/>
              </a:rPr>
              <a:t>, which distributes data and provides high reliability and scalability)</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Shared storage systems (such as SAN, which provides shared storage for multi-processors)</a:t>
            </a:r>
          </a:p>
          <a:p>
            <a:pPr lvl="1">
              <a:spcBef>
                <a:spcPts val="600"/>
              </a:spcBef>
            </a:pPr>
            <a:r>
              <a:rPr lang="en-US" altLang="zh-CN" sz="1600" dirty="0">
                <a:latin typeface="Calibri" panose="020F0502020204030204" pitchFamily="34" charset="0"/>
                <a:ea typeface="Calibri" panose="020F0502020204030204" pitchFamily="34" charset="0"/>
                <a:cs typeface="Calibri" panose="020F0502020204030204" pitchFamily="34" charset="0"/>
              </a:rPr>
              <a:t>S</a:t>
            </a:r>
            <a:r>
              <a:rPr lang="en-US" altLang="zh-CN" sz="1600" i="0" dirty="0">
                <a:effectLst/>
                <a:latin typeface="Calibri" panose="020F0502020204030204" pitchFamily="34" charset="0"/>
                <a:ea typeface="Calibri" panose="020F0502020204030204" pitchFamily="34" charset="0"/>
                <a:cs typeface="Calibri" panose="020F0502020204030204" pitchFamily="34" charset="0"/>
              </a:rPr>
              <a:t>torage mechanisms for GPUs (optimizing data transfer between video memory and main memory as well as cache management within GPUs). </a:t>
            </a:r>
          </a:p>
          <a:p>
            <a:pPr lvl="1">
              <a:spcBef>
                <a:spcPts val="600"/>
              </a:spcBef>
            </a:pPr>
            <a:r>
              <a:rPr lang="en-US" altLang="zh-CN" sz="1600" i="0" dirty="0">
                <a:effectLst/>
                <a:latin typeface="Calibri" panose="020F0502020204030204" pitchFamily="34" charset="0"/>
                <a:ea typeface="Calibri" panose="020F0502020204030204" pitchFamily="34" charset="0"/>
                <a:cs typeface="Calibri" panose="020F0502020204030204" pitchFamily="34" charset="0"/>
              </a:rPr>
              <a:t>It is an important support for parallel computing architectures and can avoid storage becoming a performance bottleneck.</a:t>
            </a:r>
            <a:endParaRPr lang="zh-CN" altLang="en-US" sz="1600" i="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811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382787-CCAB-211A-24FF-3D8191477C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0398EB1D-B896-FD4E-79C3-AB2AF98612EF}"/>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altLang="zh-CN" sz="400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Parallel Computing Model</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71093ABA-3E94-8783-04FE-3A2979D6DC54}"/>
              </a:ext>
            </a:extLst>
          </p:cNvPr>
          <p:cNvSpPr>
            <a:spLocks noGrp="1"/>
          </p:cNvSpPr>
          <p:nvPr>
            <p:ph type="body" orient="vert" idx="1"/>
          </p:nvPr>
        </p:nvSpPr>
        <p:spPr>
          <a:xfrm>
            <a:off x="1115568" y="2481943"/>
            <a:ext cx="10168128" cy="3695020"/>
          </a:xfrm>
        </p:spPr>
        <p:txBody>
          <a:bodyPr vert="horz" lIns="91440" tIns="45720" rIns="91440" bIns="45720" rtlCol="0">
            <a:normAutofit fontScale="92500" lnSpcReduction="10000"/>
          </a:bodyPr>
          <a:lstStyle/>
          <a:p>
            <a:pPr marL="0" indent="0">
              <a:spcBef>
                <a:spcPts val="600"/>
              </a:spcBef>
              <a:buNone/>
            </a:pP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This is a planning concept, similar to the design drawings before building a house.</a:t>
            </a:r>
          </a:p>
          <a:p>
            <a:pPr marL="0" indent="0">
              <a:spcBef>
                <a:spcPts val="600"/>
              </a:spcBef>
              <a:buNone/>
            </a:pP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It stipulates how a parallel computing task should be split into smaller tasks and assigned to different "</a:t>
            </a:r>
            <a:r>
              <a:rPr lang="en-US" altLang="zh-CN" sz="2000" b="0" i="0" u="sng" dirty="0">
                <a:effectLst/>
                <a:latin typeface="Calibri" panose="020F0502020204030204" pitchFamily="34" charset="0"/>
                <a:ea typeface="Calibri" panose="020F0502020204030204" pitchFamily="34" charset="0"/>
                <a:cs typeface="Calibri" panose="020F0502020204030204" pitchFamily="34" charset="0"/>
              </a:rPr>
              <a:t>helpers</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 (processors), as well as how these "helpers" should cooperate together to complete the entire task.</a:t>
            </a:r>
          </a:p>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The shared memory model</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 in this model, the </a:t>
            </a:r>
            <a:r>
              <a:rPr lang="en-US" altLang="zh-CN" sz="2000" b="0" i="0" u="sng" dirty="0">
                <a:effectLst/>
                <a:latin typeface="Calibri" panose="020F0502020204030204" pitchFamily="34" charset="0"/>
                <a:ea typeface="Calibri" panose="020F0502020204030204" pitchFamily="34" charset="0"/>
                <a:cs typeface="Calibri" panose="020F0502020204030204" pitchFamily="34" charset="0"/>
              </a:rPr>
              <a:t>"helpers" share a "storage room"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(memory), which makes it convenient to get things, but there may be situations where they compete for the same thing simultaneously, and some special methods (locks, semaphores) need to be used to coordinate.</a:t>
            </a:r>
          </a:p>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The distributed memory model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is that </a:t>
            </a:r>
            <a:r>
              <a:rPr lang="en-US" altLang="zh-CN" sz="2000" b="0" i="0" u="sng" dirty="0">
                <a:effectLst/>
                <a:latin typeface="Calibri" panose="020F0502020204030204" pitchFamily="34" charset="0"/>
                <a:ea typeface="Calibri" panose="020F0502020204030204" pitchFamily="34" charset="0"/>
                <a:cs typeface="Calibri" panose="020F0502020204030204" pitchFamily="34" charset="0"/>
              </a:rPr>
              <a:t>each "helper" has its own "storage room",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and they transfer things through "passing notes" (message passing).</a:t>
            </a:r>
          </a:p>
          <a:p>
            <a:pPr>
              <a:spcBef>
                <a:spcPts val="600"/>
              </a:spcBef>
            </a:pPr>
            <a:r>
              <a:rPr lang="en-US" altLang="zh-CN" sz="2000" b="1" i="0" dirty="0">
                <a:effectLst/>
                <a:latin typeface="Calibri" panose="020F0502020204030204" pitchFamily="34" charset="0"/>
                <a:ea typeface="Calibri" panose="020F0502020204030204" pitchFamily="34" charset="0"/>
                <a:cs typeface="Calibri" panose="020F0502020204030204" pitchFamily="34" charset="0"/>
              </a:rPr>
              <a:t>The vector computing model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is like a method specifically designed for </a:t>
            </a:r>
            <a:r>
              <a:rPr lang="en-US" altLang="zh-CN" sz="2000" b="0" i="0" u="sng" dirty="0">
                <a:effectLst/>
                <a:latin typeface="Calibri" panose="020F0502020204030204" pitchFamily="34" charset="0"/>
                <a:ea typeface="Calibri" panose="020F0502020204030204" pitchFamily="34" charset="0"/>
                <a:cs typeface="Calibri" panose="020F0502020204030204" pitchFamily="34" charset="0"/>
              </a:rPr>
              <a:t>processing long strings of data </a:t>
            </a: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(vector data), where one instruction can process many data elements simultaneously. </a:t>
            </a:r>
          </a:p>
          <a:p>
            <a:pPr marL="0" indent="0">
              <a:spcBef>
                <a:spcPts val="600"/>
              </a:spcBef>
              <a:buNone/>
            </a:pP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This computing model has a significant impact on how the hardware is designed and how programmers write code.</a:t>
            </a:r>
            <a:endParaRPr lang="zh-CN" altLang="en-US" sz="2000" b="0" i="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8447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FD4E72-1F9E-54C0-0C8B-9042C534C5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AE35B711-33B2-52EB-3DD0-519BCEE3FB11}"/>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altLang="zh-CN" sz="4000" kern="1200" dirty="0">
                <a:solidFill>
                  <a:schemeClr val="tx1"/>
                </a:solidFill>
                <a:latin typeface="Calibri" panose="020F0502020204030204" pitchFamily="34" charset="0"/>
                <a:ea typeface="Calibri" panose="020F0502020204030204" pitchFamily="34" charset="0"/>
                <a:cs typeface="Calibri" panose="020F0502020204030204" pitchFamily="34" charset="0"/>
              </a:rPr>
              <a:t>Parallel Computing Model</a:t>
            </a:r>
            <a:endParaRPr lang="zh-CN" altLang="en-US" sz="4000" kern="1200" dirty="0">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竖排文字占位符 2">
            <a:extLst>
              <a:ext uri="{FF2B5EF4-FFF2-40B4-BE49-F238E27FC236}">
                <a16:creationId xmlns:a16="http://schemas.microsoft.com/office/drawing/2014/main" id="{481C69A6-FCA5-2FD1-6F79-4E02FBAF8130}"/>
              </a:ext>
            </a:extLst>
          </p:cNvPr>
          <p:cNvSpPr>
            <a:spLocks noGrp="1"/>
          </p:cNvSpPr>
          <p:nvPr>
            <p:ph type="body" orient="vert" idx="1"/>
          </p:nvPr>
        </p:nvSpPr>
        <p:spPr>
          <a:xfrm>
            <a:off x="1115568" y="2481943"/>
            <a:ext cx="10168128" cy="3695020"/>
          </a:xfrm>
        </p:spPr>
        <p:txBody>
          <a:bodyPr vert="horz" lIns="91440" tIns="45720" rIns="91440" bIns="45720" rtlCol="0">
            <a:normAutofit/>
          </a:bodyPr>
          <a:lstStyle/>
          <a:p>
            <a:pPr marL="0" indent="0">
              <a:buNone/>
            </a:pPr>
            <a:r>
              <a:rPr lang="en-US" altLang="zh-CN" sz="2000" b="0" i="0" dirty="0">
                <a:effectLst/>
                <a:latin typeface="Calibri" panose="020F0502020204030204" pitchFamily="34" charset="0"/>
                <a:ea typeface="Calibri" panose="020F0502020204030204" pitchFamily="34" charset="0"/>
                <a:cs typeface="Calibri" panose="020F0502020204030204" pitchFamily="34" charset="0"/>
              </a:rPr>
              <a:t>Latest Industry Developments</a:t>
            </a:r>
          </a:p>
          <a:p>
            <a:pPr marL="0"/>
            <a:r>
              <a:rPr lang="en-US" altLang="zh-CN" sz="20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Breakthrough in Optical Computing Parallel Models: </a:t>
            </a:r>
          </a:p>
          <a:p>
            <a:pPr marL="457200" lvl="1"/>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the development of large-scale AI models, the demand for computing power has skyrocketed. Optical computing has emerged as a new direction. </a:t>
            </a:r>
          </a:p>
          <a:p>
            <a:pPr marL="457200" lvl="1"/>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team from Tsinghua University has launched the </a:t>
            </a:r>
            <a:r>
              <a:rPr lang="en-US" altLang="zh-CN" sz="1600" i="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"Taiji-I" </a:t>
            </a:r>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intelligent optical computing chip, integrating multiple optical modalities and possessing high-throughput parallel computing capabilities, capable of completing general artificial intelligence tasks. </a:t>
            </a:r>
          </a:p>
          <a:p>
            <a:pPr marL="457200" lvl="1"/>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subsequent "Taiji-II" intelligent optical training chip has innovated the training architecture and significantly improved performance in large-scale learning and complex scene imaging domains.</a:t>
            </a:r>
          </a:p>
          <a:p>
            <a:pPr marL="0"/>
            <a:r>
              <a:rPr lang="en-US" altLang="zh-CN" sz="20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Exploration of Parallel Computing Models Based on New Architectures: </a:t>
            </a:r>
          </a:p>
          <a:p>
            <a:pPr marL="457200" lvl="1"/>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For quantum computing hardware, researchers have constructed quantum parallel computing models, leveraging the characteristics of quantum bits to achieve super-strong parallel computing.</a:t>
            </a:r>
          </a:p>
          <a:p>
            <a:pPr marL="457200" lvl="1"/>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Although still in the early stages, it has shown great potential </a:t>
            </a:r>
            <a:r>
              <a:rPr lang="en-US" altLang="zh-CN" sz="1600" i="0" u="sng"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cryptography, chemical simulation</a:t>
            </a:r>
            <a:r>
              <a:rPr lang="en-US" altLang="zh-CN" sz="160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other fields.</a:t>
            </a:r>
            <a:endParaRPr lang="zh-CN" altLang="en-US" sz="1600" i="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99503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737</TotalTime>
  <Words>1039</Words>
  <Application>Microsoft Office PowerPoint</Application>
  <PresentationFormat>宽屏</PresentationFormat>
  <Paragraphs>67</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Inter</vt:lpstr>
      <vt:lpstr>等线</vt:lpstr>
      <vt:lpstr>等线 Light</vt:lpstr>
      <vt:lpstr>Arial</vt:lpstr>
      <vt:lpstr>Calibri</vt:lpstr>
      <vt:lpstr>Office 主题​​</vt:lpstr>
      <vt:lpstr>3 aspects of computer architecture not covered in this module</vt:lpstr>
      <vt:lpstr>Parallel Computing Architecture</vt:lpstr>
      <vt:lpstr>Cache </vt:lpstr>
      <vt:lpstr>Multi - Core Processor Architecture</vt:lpstr>
      <vt:lpstr>Parallel Computing Architecture sub-topics:</vt:lpstr>
      <vt:lpstr>Parallel Computing Model</vt:lpstr>
      <vt:lpstr>Parallel Computing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Yushan WANG (20616309)</dc:creator>
  <cp:lastModifiedBy>Yushan WANG (20616309)</cp:lastModifiedBy>
  <cp:revision>5</cp:revision>
  <dcterms:created xsi:type="dcterms:W3CDTF">2025-04-29T05:24:09Z</dcterms:created>
  <dcterms:modified xsi:type="dcterms:W3CDTF">2025-04-29T17:41:17Z</dcterms:modified>
</cp:coreProperties>
</file>